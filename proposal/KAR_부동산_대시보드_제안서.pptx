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1097280"/>
            <a:ext cx="5943600" cy="5943600"/>
          </a:xfrm>
          <a:prstGeom prst="roundRect">
            <a:avLst>
              <a:gd name="adj" fmla="val 4615"/>
            </a:avLst>
          </a:prstGeom>
          <a:solidFill>
            <a:srgbClr val="0E17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한국공인중개사협회 제안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 분석 대시보드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제안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회원에게 제공하는 주간·월간 부동산 분석 서비스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한국부동산원 · 공공데이터 · 서울사이버대 AI부동산빅데이터학과 · 협회 지회 연동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2926080" cy="0"/>
          </a:xfrm>
          <a:prstGeom prst="line">
            <a:avLst/>
          </a:prstGeom>
          <a:noFill/>
          <a:ln w="25400">
            <a:solidFill>
              <a:srgbClr val="4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  |  2026.06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배경과 목적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27080" cy="1325880"/>
          </a:xfrm>
          <a:prstGeom prst="roundRect">
            <a:avLst>
              <a:gd name="adj" fmla="val 5517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21408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214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비대칭 해소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45059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회원이 한국부동산원·KB 수준의 공신력 있는 시장 데이터를 즉시 활용하도록 협회가 직접 제공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19272"/>
            <a:ext cx="10927080" cy="1325880"/>
          </a:xfrm>
          <a:prstGeom prst="roundRect">
            <a:avLst>
              <a:gd name="adj" fmla="val 5517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6118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611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5021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서비스 품질 향상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941064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시 '가격·수요·입지·세금'을 데이터 근거로 설명 → 회원 신뢰도와 계약 전환율 제고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09744"/>
            <a:ext cx="10927080" cy="1325880"/>
          </a:xfrm>
          <a:prstGeom prst="roundRect">
            <a:avLst>
              <a:gd name="adj" fmla="val 5517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10235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023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992624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협회 위상 강화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5431536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회원 공통 데이터 인프라를 협회 브랜드로 제공하여 협회의 존재가치와 결속력 강화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제공하나 — 3대 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84448" cy="4023360"/>
          </a:xfrm>
          <a:prstGeom prst="roundRect">
            <a:avLst>
              <a:gd name="adj" fmla="val 2551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공공·민간 통계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1097280" cy="0"/>
          </a:xfrm>
          <a:prstGeom prst="line">
            <a:avLst/>
          </a:prstGeom>
          <a:noFill/>
          <a:ln w="25400">
            <a:solidFill>
              <a:srgbClr val="4F7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4290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매매·전세 가격지수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월세·거래량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시도/시군구 변동률·랭킹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코로플레스 지도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828800"/>
            <a:ext cx="3584448" cy="4023360"/>
          </a:xfrm>
          <a:prstGeom prst="roundRect">
            <a:avLst>
              <a:gd name="adj" fmla="val 2551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2057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9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26864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심화분석 (ISCU)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26864" y="3246120"/>
            <a:ext cx="1097280" cy="0"/>
          </a:xfrm>
          <a:prstGeom prst="line">
            <a:avLst/>
          </a:prstGeom>
          <a:noFill/>
          <a:ln w="25400">
            <a:solidFill>
              <a:srgbClr val="3B9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34290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실거래 적정가 분석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거주·직장 인구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상권 공간분포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 분석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1828800"/>
            <a:ext cx="3584448" cy="4023360"/>
          </a:xfrm>
          <a:prstGeom prst="roundRect">
            <a:avLst>
              <a:gd name="adj" fmla="val 2551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2057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39328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협회 지회 연동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39328" y="3246120"/>
            <a:ext cx="1097280" cy="0"/>
          </a:xfrm>
          <a:prstGeom prst="line">
            <a:avLst/>
          </a:prstGeom>
          <a:noFill/>
          <a:ln w="25400">
            <a:solidFill>
              <a:srgbClr val="F5B1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5048" y="34290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19개 시도회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241개 지회 DB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클릭 → 담당지회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지회 안내·검색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 — 공신력 기반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9728" cy="960120"/>
          </a:xfrm>
          <a:prstGeom prst="rect">
            <a:avLst/>
          </a:prstGeom>
          <a:solidFill>
            <a:srgbClr val="FF5D7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75104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한국부동산원 R-ONE API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주간/월간 아파트 가격지수(매매·전세·월세), 시도·시군구 변동률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07792"/>
            <a:ext cx="109728" cy="96012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05409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 (국토교통부)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0120" y="345643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아파트 실거래가·거래량, 단지별 평균 거래가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986784"/>
            <a:ext cx="109728" cy="960120"/>
          </a:xfrm>
          <a:prstGeom prst="rect">
            <a:avLst/>
          </a:prstGeom>
          <a:solidFill>
            <a:srgbClr val="3B9D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3308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서울사이버대 AI부동산빅데이터학과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60120" y="453542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실거래·인구·직장·상권·공시가 심화 분석 결과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65776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065776"/>
            <a:ext cx="109728" cy="960120"/>
          </a:xfrm>
          <a:prstGeom prst="rect">
            <a:avLst/>
          </a:prstGeom>
          <a:solidFill>
            <a:srgbClr val="F5B14C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2120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한국공인중개사협회 (kar.or.kr)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60120" y="561441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시도회·지회 주소·연락처 (19개 시도회 / 241개 지회)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시장동향 요약 + 가격지수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63452" y="1636776"/>
            <a:ext cx="8080336" cy="1298448"/>
          </a:xfrm>
          <a:prstGeom prst="roundRect">
            <a:avLst>
              <a:gd name="adj" fmla="val 4225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pic>
        <p:nvPicPr>
          <p:cNvPr id="5" name="Image 0" descr="shots/s1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8316" y="1691640"/>
            <a:ext cx="7970608" cy="1188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50480" y="2962656"/>
            <a:ext cx="6306281" cy="3218688"/>
          </a:xfrm>
          <a:prstGeom prst="roundRect">
            <a:avLst>
              <a:gd name="adj" fmla="val 1705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pic>
        <p:nvPicPr>
          <p:cNvPr id="7" name="Image 1" descr="shots/s2_ind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344" y="3017520"/>
            <a:ext cx="6196553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한국부동산원 보도자료 스타일 자동 코멘트 · 전국/시도 가격지수 및 추이 (2026-06-01 기준, 공식 통계와 수치 일치)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시도별 변동률 · 시군구 상승률 TOP10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2713462"/>
            <a:ext cx="5458968" cy="2254035"/>
          </a:xfrm>
          <a:prstGeom prst="roundRect">
            <a:avLst>
              <a:gd name="adj" fmla="val 2434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pic>
        <p:nvPicPr>
          <p:cNvPr id="5" name="Image 0" descr="shots/s3_s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68326"/>
            <a:ext cx="5349240" cy="21443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17336" y="2510560"/>
            <a:ext cx="5458968" cy="2659840"/>
          </a:xfrm>
          <a:prstGeom prst="roundRect">
            <a:avLst>
              <a:gd name="adj" fmla="val 2063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pic>
        <p:nvPicPr>
          <p:cNvPr id="7" name="Image 1" descr="shots/s4_top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565424"/>
            <a:ext cx="5349240" cy="25501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지역을 한눈에 비교 — 매매/전세 변동률 막대그래프와 시군구 상승률 순위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03 · 핵심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시군구 지도 → 담당 지회 자동 연결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3361" y="1636776"/>
            <a:ext cx="5771438" cy="4590288"/>
          </a:xfrm>
          <a:prstGeom prst="roundRect">
            <a:avLst>
              <a:gd name="adj" fmla="val 1195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pic>
        <p:nvPicPr>
          <p:cNvPr id="5" name="Image 0" descr="shots/s5_map_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25" y="1691640"/>
            <a:ext cx="566171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포인트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955280" y="228600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83880" y="24323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코로플레스 시각화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183880" y="281635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시군구별 변동률을 색상으로 — 상승(적)·하락(청)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55280" y="356616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83880" y="37124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→ 담당 지회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183880" y="40965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클릭 시 변동률과 함께 담당 지회 주소·연락처 표시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55280" y="48463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3880" y="49926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협회만의 강점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183880" y="537667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통계와 협회 지회 네트워크를 하나로 결합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월세 동향 · 단지별 상승률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2397580"/>
            <a:ext cx="5458968" cy="2885799"/>
          </a:xfrm>
          <a:prstGeom prst="roundRect">
            <a:avLst>
              <a:gd name="adj" fmla="val 1901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pic>
        <p:nvPicPr>
          <p:cNvPr id="5" name="Image 0" descr="shots/s6_wol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52444"/>
            <a:ext cx="5349240" cy="277607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17336" y="2494420"/>
            <a:ext cx="5458968" cy="2692120"/>
          </a:xfrm>
          <a:prstGeom prst="roundRect">
            <a:avLst>
              <a:gd name="adj" fmla="val 2038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pic>
        <p:nvPicPr>
          <p:cNvPr id="7" name="Image 1" descr="shots/s7_a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549284"/>
            <a:ext cx="5349240" cy="25823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매매·전세·월세 지수 + 실거래 기반 단지별 평균 거래가 상승률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심화분석 (ISCU) 연동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9256" y="1682496"/>
            <a:ext cx="6002528" cy="4407408"/>
          </a:xfrm>
          <a:prstGeom prst="roundRect">
            <a:avLst>
              <a:gd name="adj" fmla="val 1245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pic>
        <p:nvPicPr>
          <p:cNvPr id="5" name="Image 0" descr="shots/i_ta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120" y="1737360"/>
            <a:ext cx="589280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9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분석 시스템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22860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🏢 실거래 분석 — 적정가 밴드·이상거래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👥 거주인구 — 증감·세대·순이동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🏬 직장인구·사업체 — 직주비·종사자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📑 공시가격 — 현실화율·보유세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🛍️ 상권 공간분포 — 업종밀도·매출등급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53949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모드 3종(임베드·API·링크) 지원 — 협의 시 즉시 실데이터 전환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지회 안내 · 검색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5337" y="1682496"/>
            <a:ext cx="6424686" cy="4407408"/>
          </a:xfrm>
          <a:prstGeom prst="roundRect">
            <a:avLst>
              <a:gd name="adj" fmla="val 1245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pic>
        <p:nvPicPr>
          <p:cNvPr id="5" name="Image 0" descr="shots/b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01" y="1737360"/>
            <a:ext cx="6314958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241개 지회 DB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22860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19개 시도회별 그룹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지역·지회·주소·전화 실시간 검색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주소 기반 시군구 자동 매핑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지도와 양방향 연동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2651760"/>
            <a:ext cx="1371600" cy="0"/>
          </a:xfrm>
          <a:prstGeom prst="line">
            <a:avLst/>
          </a:prstGeom>
          <a:noFill/>
          <a:ln w="254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803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회원 공통 데이터 인프라 보유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공신력·브랜드 가치 제고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지회 네트워크 디지털 자산화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정책·홍보 근거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B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(공인중개사)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0" y="2651760"/>
            <a:ext cx="1371600" cy="0"/>
          </a:xfrm>
          <a:prstGeom prst="line">
            <a:avLst/>
          </a:prstGeom>
          <a:noFill/>
          <a:ln w="25400">
            <a:solidFill>
              <a:srgbClr val="F5B1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8803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객관적 시세 근거로 상담 품질↑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수요·입지·세금까지 입체 설명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지회 즉시 안내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주간·월간 리포트 자동 수신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&amp; 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· 운영 방식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777240" cy="777240"/>
          </a:xfrm>
          <a:prstGeom prst="roundRect">
            <a:avLst>
              <a:gd name="adj" fmla="val 50588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2024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+ Vercel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20240" y="26974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서버리스 자동 배포 · 글로벌 CDN · 무중단 운영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148840"/>
            <a:ext cx="777240" cy="777240"/>
          </a:xfrm>
          <a:prstGeom prst="roundRect">
            <a:avLst>
              <a:gd name="adj" fmla="val 50588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9808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자동 갱신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98080" y="26974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공표(화·목) 직후 Cron으로 자동 수집·반영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160520"/>
            <a:ext cx="777240" cy="777240"/>
          </a:xfrm>
          <a:prstGeom prst="roundRect">
            <a:avLst>
              <a:gd name="adj" fmla="val 50588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160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920240" y="4160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전용 로그인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20240" y="47091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협회 회원 인증 연동(예정) — 회원만 접근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160520"/>
            <a:ext cx="777240" cy="777240"/>
          </a:xfrm>
          <a:prstGeom prst="roundRect">
            <a:avLst>
              <a:gd name="adj" fmla="val 50588"/>
            </a:avLst>
          </a:prstGeom>
          <a:solidFill>
            <a:srgbClr val="1B2740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160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98080" y="4160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리포트 자동생성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0" y="47091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주간·월간 분석 리포트 자동 생성·배포(예정)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로드맵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31C31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65176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4F7C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운영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공공·부동산원 데이터 대시보드 (완료)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23774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31C31"/>
          </a:solidFill>
          <a:ln w="19050">
            <a:solidFill>
              <a:srgbClr val="3B9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265176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3B9DFF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39312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심화·연동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39312" y="3886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ISCU 심화분석 + 지회 연동 (완료)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23774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31C31"/>
          </a:solidFill>
          <a:ln w="19050">
            <a:solidFill>
              <a:srgbClr val="F5B1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9944" y="265176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F5B14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9944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9944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서비스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9944" y="3886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로그인 · PDF 리포트 · 알림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51976" y="23774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31C31"/>
          </a:solidFill>
          <a:ln w="19050">
            <a:solidFill>
              <a:srgbClr val="FF5D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0576" y="265176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FF5D73"/>
          </a:solidFill>
          <a:ln/>
        </p:spPr>
      </p:sp>
      <p:sp>
        <p:nvSpPr>
          <p:cNvPr id="21" name="Text 19"/>
          <p:cNvSpPr/>
          <p:nvPr/>
        </p:nvSpPr>
        <p:spPr>
          <a:xfrm>
            <a:off x="9180576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80576" y="3886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지회별 맞춤 · 모바일 · 데이터 고도화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위치 ▸ 3단계 준비 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7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만들어 갈 부분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협조 요청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697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7CFF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25877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서울사이버대(ISCU) 데이터 제공 협의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980944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심화분석 결과 API/CSV 또는 임베드 허용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493008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721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7CFF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61188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협회 공식 지회 명단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4005072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지회 주소·연락처 및 담당 시군구 범위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517136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31C31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74573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7CFF"/>
                </a:solidFill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4636008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인증(DB) 연동 방식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50292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전용 접근을 위한 인증 연계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5B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회원과 함께 성장하는 협회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 부동산 인사이트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2026-06-06T02:19:35Z</dcterms:created>
  <dcterms:modified xsi:type="dcterms:W3CDTF">2026-06-06T02:19:35Z</dcterms:modified>
</cp:coreProperties>
</file>